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46888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>
                <a:solidFill>
                  <a:srgbClr val="1A1A1A"/>
                </a:solidFill>
              </a:rPr>
              <a:t>Weekly Meeting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49039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>
                <a:solidFill>
                  <a:srgbClr val="5A6A80"/>
                </a:solidFill>
              </a:rPr>
              <a:t>2026.06.19   ·   Jaehun Han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C4E86"/>
                </a:solidFill>
              </a:rPr>
              <a:t>RECAP</a:t>
            </a:r>
          </a:p>
          <a:p>
            <a:r>
              <a:rPr sz="3000" b="1">
                <a:solidFill>
                  <a:srgbClr val="1A1A1A"/>
                </a:solidFill>
              </a:rPr>
              <a:t>Last meeting — Phase 0 (naive, frozen)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371600"/>
            <a:ext cx="10972800" cy="45720"/>
          </a:xfrm>
          <a:prstGeom prst="rect">
            <a:avLst/>
          </a:prstGeom>
          <a:solidFill>
            <a:srgbClr val="2C4E86"/>
          </a:solidFill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6583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•  d=3 rotated surface code, toy sequential schedule (PennyLane state-vector).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•  Correlated error fixed to a narrow case: one faulty CNOT (1 of 24), recurring.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•  Task: identify which CNOT, from syndrome data — two data views, both classified well: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2A7A55"/>
                </a:solidFill>
              </a:rPr>
              <a:t>–  Sequential  (T, d²−1)  long stream  →  GRU  95.3 % / 91.2 %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2A7A55"/>
                </a:solidFill>
              </a:rPr>
              <a:t>–  Spatial  (N, d, d²−1)  bag-of-shots  →  LogReg  93.9 % (N=300)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5A6A80"/>
                </a:solidFill>
              </a:rPr>
              <a:t>–  Within-distance ambiguity groups (e.g. {6,7}, {14,15,17}) cap per-class accuracy.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C4E86"/>
                </a:solidFill>
              </a:rPr>
              <a:t>PLAN</a:t>
            </a:r>
          </a:p>
          <a:p>
            <a:r>
              <a:rPr sz="3000" b="1">
                <a:solidFill>
                  <a:srgbClr val="1A1A1A"/>
                </a:solidFill>
              </a:rPr>
              <a:t>Direction for this phase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371600"/>
            <a:ext cx="10972800" cy="45720"/>
          </a:xfrm>
          <a:prstGeom prst="rect">
            <a:avLst/>
          </a:prstGeom>
          <a:solidFill>
            <a:srgbClr val="2C4E86"/>
          </a:solidFill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6583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•  Implement a realistic, general-d, constant-depth surface code.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•  Implement compatible MWPM decoding (open-source allowed).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•  Repeat the Phase 0 classification on the realistic circuit.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1A1A1A"/>
                </a:solidFill>
              </a:rPr>
              <a:t>–  Spatial data: use (N, d·k, d²−1) instead of (N, d, d²−1) — length-d·k shots, k = 1,2,3.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5A6A80"/>
                </a:solidFill>
              </a:rPr>
              <a:t>–  Decoding per d rounds may be added later; not applied for now.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C4E86"/>
                </a:solidFill>
              </a:rPr>
              <a:t>DONE</a:t>
            </a:r>
          </a:p>
          <a:p>
            <a:r>
              <a:rPr sz="3000" b="1">
                <a:solidFill>
                  <a:srgbClr val="1A1A1A"/>
                </a:solidFill>
              </a:rPr>
              <a:t>Progress 1 — General-d surface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371600"/>
            <a:ext cx="10972800" cy="45720"/>
          </a:xfrm>
          <a:prstGeom prst="rect">
            <a:avLst/>
          </a:prstGeom>
          <a:solidFill>
            <a:srgbClr val="2C4E86"/>
          </a:solidFill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5852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•  Constant-depth 4-tick parallel schedule (depth independent of d).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•  Built from first principles, validated against Stim: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2A7A55"/>
                </a:solidFill>
              </a:rPr>
              <a:t>–  ancilla set + CNOT schedule  ==  Stim generator (bit-for-bit)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2A7A55"/>
                </a:solidFill>
              </a:rPr>
              <a:t>–  code distance == d ; logical-error-rate matches (d=3/5/7)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•  Backend: Stim (Clifford) — scales where state-vector cannot (d=5 → 49 qubits).</a:t>
            </a:r>
          </a:p>
        </p:txBody>
      </p:sp>
      <p:pic>
        <p:nvPicPr>
          <p:cNvPr id="5" name="Picture 4" descr="preview_d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828800"/>
            <a:ext cx="5120640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0" y="699515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5A6A80"/>
                </a:solidFill>
              </a:rPr>
              <a:t>d=3 lattice (data · X/Z stabilizers)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C4E86"/>
                </a:solidFill>
              </a:rPr>
              <a:t>DONE</a:t>
            </a:r>
          </a:p>
          <a:p>
            <a:r>
              <a:rPr sz="3000" b="1">
                <a:solidFill>
                  <a:srgbClr val="1A1A1A"/>
                </a:solidFill>
              </a:rPr>
              <a:t>Progress 2 — MWPM decoding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371600"/>
            <a:ext cx="10972800" cy="45720"/>
          </a:xfrm>
          <a:prstGeom prst="rect">
            <a:avLst/>
          </a:prstGeom>
          <a:solidFill>
            <a:srgbClr val="2C4E86"/>
          </a:solidFill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•  MWPM = standard surface-code baseline; via PyMatching 2.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•  Driven by the circuit's detector error model (DEM) — no extra modeling.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2A7A55"/>
                </a:solidFill>
              </a:rPr>
              <a:t>–  noiseless → 0 logical errors ; below-threshold LER ↓ as d ↑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•  Works d=3…9. Code → error → syndrome → matching → verdict visualized.</a:t>
            </a:r>
          </a:p>
        </p:txBody>
      </p:sp>
      <p:pic>
        <p:nvPicPr>
          <p:cNvPr id="5" name="Picture 4" descr="decode_d5_su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103120"/>
            <a:ext cx="5760720" cy="207385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4222699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5A6A80"/>
                </a:solidFill>
              </a:rPr>
              <a:t>decode pipeline (d=5): error → detection events → MWPM → no logical error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C4E86"/>
                </a:solidFill>
              </a:rPr>
              <a:t>IN PROGRESS</a:t>
            </a:r>
          </a:p>
          <a:p>
            <a:r>
              <a:rPr sz="3000" b="1">
                <a:solidFill>
                  <a:srgbClr val="1A1A1A"/>
                </a:solidFill>
              </a:rPr>
              <a:t>Progress 3 — Realistic correlated-noise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371600"/>
            <a:ext cx="10972800" cy="45720"/>
          </a:xfrm>
          <a:prstGeom prst="rect">
            <a:avLst/>
          </a:prstGeom>
          <a:solidFill>
            <a:srgbClr val="2C4E86"/>
          </a:solidFill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6583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•  Move beyond the artificial single-CNOT fault → physically-grounded correlated channels (survey).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•  Candidate correlated locations = all qubit pairs within distance ≤ 2: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2C4E86"/>
                </a:solidFill>
              </a:rPr>
              <a:t>–  d=3:  24 data–anc  +  12 data–data  +  8 anc–anc  =  44 pairs  ( + None 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•  Channel per mechanism: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1A1A1A"/>
                </a:solidFill>
              </a:rPr>
              <a:t>–  data–anc : stray ZZ during the gate     data–data : always-on ZZ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1A1A1A"/>
                </a:solidFill>
              </a:rPr>
              <a:t>–  anc–anc : readout crosstalk (XX)        background : i.i.d. (= None class)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•  Task → which pair (or None) is correlated, from (N, d·k, d²−1) syndrome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C4E86"/>
                </a:solidFill>
              </a:rPr>
              <a:t>RESULT</a:t>
            </a:r>
          </a:p>
          <a:p>
            <a:r>
              <a:rPr sz="3000" b="1">
                <a:solidFill>
                  <a:srgbClr val="1A1A1A"/>
                </a:solidFill>
              </a:rPr>
              <a:t>Key finding — fundamental distinguishability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371600"/>
            <a:ext cx="10972800" cy="45720"/>
          </a:xfrm>
          <a:prstGeom prst="rect">
            <a:avLst/>
          </a:prstGeom>
          <a:solidFill>
            <a:srgbClr val="2C4E86"/>
          </a:solidFill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6035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A1A1A"/>
                </a:solidFill>
              </a:rPr>
              <a:t>•  Exact test (Phase-0-style TV = 0): two classes are indistinguishable for ANY N iff their correlated error gives the same syndrome signature.</a:t>
            </a:r>
          </a:p>
          <a:p>
            <a:pPr lvl="1">
              <a:spcAft>
                <a:spcPts val="800"/>
              </a:spcAft>
            </a:pPr>
            <a:r>
              <a:rPr sz="1400">
                <a:solidFill>
                  <a:srgbClr val="C03939"/>
                </a:solidFill>
              </a:rPr>
              <a:t>–  d=3:  45 classes  →  26 fundamentally distinguishable ; 6 silent (≡ None)</a:t>
            </a:r>
          </a:p>
          <a:p>
            <a:pPr lvl="1">
              <a:spcAft>
                <a:spcPts val="800"/>
              </a:spcAft>
            </a:pPr>
            <a:r>
              <a:rPr sz="1400">
                <a:solidFill>
                  <a:srgbClr val="5A6A80"/>
                </a:solidFill>
              </a:rPr>
              <a:t>–  Invariant to window k (k=1,2,3) and to sample count 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1A1A"/>
                </a:solidFill>
              </a:rPr>
              <a:t>•  Collisions only among ZZ channels; every anc–anc (readout) class is unique.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1A1A"/>
                </a:solidFill>
              </a:rPr>
              <a:t>•  Reason: syndrome sees only the net data Pauli (mod stabilizer) — same structure as Phase 0's ambiguity groups.</a:t>
            </a:r>
          </a:p>
        </p:txBody>
      </p:sp>
      <p:pic>
        <p:nvPicPr>
          <p:cNvPr id="5" name="Picture 4" descr="fig_distinguish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548640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C4E86"/>
                </a:solidFill>
              </a:rPr>
              <a:t>DISCUSSION</a:t>
            </a:r>
          </a:p>
          <a:p>
            <a:r>
              <a:rPr sz="3000" b="1">
                <a:solidFill>
                  <a:srgbClr val="1A1A1A"/>
                </a:solidFill>
              </a:rPr>
              <a:t>Implications &amp; open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371600"/>
            <a:ext cx="10972800" cy="45720"/>
          </a:xfrm>
          <a:prstGeom prst="rect">
            <a:avLst/>
          </a:prstGeom>
          <a:solidFill>
            <a:srgbClr val="2C4E86"/>
          </a:solidFill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6583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C03939"/>
                </a:solidFill>
              </a:rPr>
              <a:t>•  Perfect 44-way classification is impossible — like Phase 0's ambiguity groups.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•  Honest target = classify the distinguishable equivalence groups (coarsened labels).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•  Open modeling decision (input wanted):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1A1A1A"/>
                </a:solidFill>
              </a:rPr>
              <a:t>–  the exact silent/collision set depends on the stray-ZZ injection convention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5A6A80"/>
                </a:solidFill>
              </a:rPr>
              <a:t>–  (where in the round the correlated error is applied) — to be pinned down.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C4E86"/>
                </a:solidFill>
              </a:rPr>
              <a:t>NEXT</a:t>
            </a:r>
          </a:p>
          <a:p>
            <a:r>
              <a:rPr sz="3000" b="1">
                <a:solidFill>
                  <a:srgbClr val="1A1A1A"/>
                </a:solidFill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371600"/>
            <a:ext cx="10972800" cy="45720"/>
          </a:xfrm>
          <a:prstGeom prst="rect">
            <a:avLst/>
          </a:prstGeom>
          <a:solidFill>
            <a:srgbClr val="2C4E86"/>
          </a:solidFill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6583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•  1.  Fix the correlated-noise injection convention (physical stray-ZZ timing).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•  2.  Generate the (N, d·k, d²−1) bag dataset per class, no decoding.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•  3.  Train the bag-of-shots classifier (reuse Phase 0 pipeline); target = distinguishable groups.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•  4.  Accuracy vs (N, k); compare to the TV=0 ceiling.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A7A55"/>
                </a:solidFill>
              </a:rPr>
              <a:t>•  Infrastructure (surface code + MWPM + correlated model) is ready.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